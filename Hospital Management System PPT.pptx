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5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D3E6E"/>
          </a:solidFill>
          <a:ln w="12700">
            <a:solidFill>
              <a:srgbClr val="0D3E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640080"/>
            <a:ext cx="2743200" cy="2743200"/>
          </a:xfrm>
          <a:prstGeom prst="ellipse">
            <a:avLst/>
          </a:prstGeom>
          <a:solidFill>
            <a:srgbClr val="0A4A7A"/>
          </a:solidFill>
          <a:ln w="12700">
            <a:solidFill>
              <a:srgbClr val="0A4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365760"/>
            <a:ext cx="731520" cy="2286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82880"/>
            <a:ext cx="22860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14A098"/>
                </a:solidFill>
              </a:rPr>
              <a:t>ITP05 INFORMATION MANAGEMENT 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73152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 Management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4F1F4"/>
                </a:solidFill>
              </a:rPr>
              <a:t>Entity-Relationship Diagram &amp; SQL Implementation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4114800" cy="36576"/>
          </a:xfrm>
          <a:prstGeom prst="rect">
            <a:avLst/>
          </a:prstGeom>
          <a:solidFill>
            <a:srgbClr val="14A098"/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2044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6AE2D"/>
                </a:solidFill>
              </a:rPr>
              <a:t>GROUP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5486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Submitted to:  Lance Jericho R. Salcedo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Faculty, School of Information Technology Education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Universidad de Dagupan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E5E"/>
          </a:solidFill>
          <a:ln w="12700">
            <a:solidFill>
              <a:srgbClr val="0D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7377"/>
                </a:solidFill>
              </a:rPr>
              <a:t>What the System Does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A Hospital Management System is a database-driven information system that centralizes patient, medical, administrative, and financial records into a single relational database which improves efficiency, consistency, and accessibility of hospital information.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240280"/>
            <a:ext cx="269748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6771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Patient Services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Registration, admissions, appointments, allergies, discharge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2402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240280"/>
            <a:ext cx="269748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26771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Clinical Management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606040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Medical records, prescriptions, doctor &amp; nurse coordination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2402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240280"/>
            <a:ext cx="269748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26771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Administration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606040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Room management, billing, departmental operations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7377"/>
                </a:solidFill>
              </a:rPr>
              <a:t>Key Stakeholders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178808"/>
            <a:ext cx="201168" cy="201168"/>
          </a:xfrm>
          <a:prstGeom prst="ellipse">
            <a:avLst/>
          </a:prstGeom>
          <a:solidFill>
            <a:srgbClr val="0D2E5E"/>
          </a:solidFill>
          <a:ln w="12700">
            <a:solidFill>
              <a:srgbClr val="0D2E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14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Hospital Administrators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4178808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4114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Doctors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417880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114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Nurses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590288"/>
            <a:ext cx="201168" cy="20116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5262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Patients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4590288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45262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Billing Staff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459028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5262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Records Officers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ERD Walkthrough 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3081655" y="3863975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14A098"/>
                </a:solidFill>
              </a:rPr>
              <a:t>  </a:t>
            </a:r>
            <a:endParaRPr lang="en-US" sz="1000" dirty="0"/>
          </a:p>
        </p:txBody>
      </p:sp>
      <p:pic>
        <p:nvPicPr>
          <p:cNvPr id="6" name="Picture 5" descr="Blank diagram (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54710"/>
            <a:ext cx="8417560" cy="42087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E5E"/>
          </a:solidFill>
          <a:ln w="12700">
            <a:solidFill>
              <a:srgbClr val="0D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Entities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05840"/>
            <a:ext cx="265176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024128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Department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0624" y="1271016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Root entity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21945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24128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Doctor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19272" y="1271016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Medical staff with specialization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005840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005840"/>
            <a:ext cx="2651760" cy="21945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024128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Nurse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0" y="1271016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Clinical support staff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1819656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1819656"/>
            <a:ext cx="2651760" cy="21945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1837944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Patient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0624" y="2084832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Core entity of the system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1819656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819656"/>
            <a:ext cx="2651760" cy="21945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1837944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Room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9272" y="2084832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Hospital resource management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1819656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1819656"/>
            <a:ext cx="2651760" cy="21945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837944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Admission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2084832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Weak entity — inpatient stays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2633472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2633472"/>
            <a:ext cx="2651760" cy="219456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2651760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Appointment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2898648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Outpatient consultations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46120" y="2633472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2633472"/>
            <a:ext cx="2651760" cy="219456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2651760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MedicalRecord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19272" y="2898648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Clinical diagnoses &amp; treatments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44768" y="2633472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44768" y="2633472"/>
            <a:ext cx="2651760" cy="219456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2651760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Prescription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17920" y="2898648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Medication prescriptions per record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" y="3447288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7472" y="3447288"/>
            <a:ext cx="2651760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624" y="3465576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Bill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20624" y="3712464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Financial billing records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46120" y="3447288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46120" y="3447288"/>
            <a:ext cx="2651760" cy="219456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9272" y="3465576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PatientAllergy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319272" y="3712464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Multi-valued — patient allergies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44768" y="3447288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44768" y="3447288"/>
            <a:ext cx="2651760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3465576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Doctor_Nurse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17920" y="3712464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Bridge table — M:N relationship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46120" y="4261104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46120" y="4261104"/>
            <a:ext cx="2651760" cy="21945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19272" y="4279392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DischargeReport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319272" y="4526280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1:1 with Admission (UNIQUE FK)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E5E"/>
          </a:solidFill>
          <a:ln w="12700">
            <a:solidFill>
              <a:srgbClr val="0D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Relationships &amp; Cardinality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329184"/>
          </a:xfrm>
          <a:prstGeom prst="rect">
            <a:avLst/>
          </a:prstGeom>
          <a:solidFill>
            <a:srgbClr val="0D2E5E"/>
          </a:solidFill>
          <a:ln w="12700">
            <a:solidFill>
              <a:srgbClr val="0D2E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Relationship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0515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Cardinality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0" y="10515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Participation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94960" y="10515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SQL Enforcement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371600"/>
            <a:ext cx="8503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4475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Doctor → Department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0" y="144475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E5E"/>
                </a:solidFill>
              </a:rPr>
              <a:t>N:1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49040" y="144475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Total (Doctor)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94960" y="144475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FK department_id in Doctor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792224"/>
            <a:ext cx="8503920" cy="393192"/>
          </a:xfrm>
          <a:prstGeom prst="rect">
            <a:avLst/>
          </a:prstGeom>
          <a:solidFill>
            <a:srgbClr val="D4F1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6537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Patient → Admission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0" y="186537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E5E"/>
                </a:solidFill>
              </a:rPr>
              <a:t>1:N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49040" y="186537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Total (Admission)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94960" y="186537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FK + ON DELETE CASCADE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212848"/>
            <a:ext cx="8503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28600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Patient ↔ Doctor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0" y="228600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7377"/>
                </a:solidFill>
              </a:rPr>
              <a:t>M:N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49040" y="22860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Partial (both)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94960" y="22860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Appointment bridge table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633472"/>
            <a:ext cx="8503920" cy="393192"/>
          </a:xfrm>
          <a:prstGeom prst="rect">
            <a:avLst/>
          </a:prstGeom>
          <a:solidFill>
            <a:srgbClr val="D4F1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70662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Doctor ↔ Nurse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0" y="270662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7377"/>
                </a:solidFill>
              </a:rPr>
              <a:t>M:N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49040" y="270662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Partial (both)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94960" y="270662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Doctor_Nurse bridge table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054096"/>
            <a:ext cx="8503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2724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MedicalRecord → Prescription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0" y="31272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E5E"/>
                </a:solidFill>
              </a:rPr>
              <a:t>1:N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49040" y="312724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Partial (MedRecord)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94960" y="312724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FK record_id + ON DELETE CASCADE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474720"/>
            <a:ext cx="8503920" cy="393192"/>
          </a:xfrm>
          <a:prstGeom prst="rect">
            <a:avLst/>
          </a:prstGeom>
          <a:solidFill>
            <a:srgbClr val="D4F1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4787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Admission ↔ DischargeReport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0" y="35478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E44AD"/>
                </a:solidFill>
              </a:rPr>
              <a:t>1:1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49040" y="354787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Partial (Admission)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94960" y="354787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UNIQUE constraint on FK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3895344"/>
            <a:ext cx="8503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96849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Patient → Bill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0" y="396849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E5E"/>
                </a:solidFill>
              </a:rPr>
              <a:t>1:N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749040" y="396849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Partial (Patient)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94960" y="396849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FK; admission_id SET NULL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315968"/>
            <a:ext cx="8503920" cy="393192"/>
          </a:xfrm>
          <a:prstGeom prst="rect">
            <a:avLst/>
          </a:prstGeom>
          <a:solidFill>
            <a:srgbClr val="D4F1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38912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Admission → Room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43200" y="43891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E5E"/>
                </a:solidFill>
              </a:rPr>
              <a:t>N:1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749040" y="438912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Total (Admission)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394960" y="438912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FK room_id in Admission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E5E"/>
          </a:solidFill>
          <a:ln w="12700">
            <a:solidFill>
              <a:srgbClr val="0D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0" cy="11155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8132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E5E"/>
                </a:solidFill>
              </a:rPr>
              <a:t>Why a Weak Entity was Used — Admission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Admission is existentially dependent on Patient and it cannot exist without one. We modeled it as a weak entity and enforced this with ON DELETE CASCADE on patient_id, so removing a patient automatically clears all their admission records.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48640" cy="11155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1576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423160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E5E"/>
                </a:solidFill>
              </a:rPr>
              <a:t>How the M:N was Resolved — Doctor &amp; Nurse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74320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Doctors and Nurses have a many-to-many relationship. We resolved this by creating the Doctor_Nurse bridge table with a composite PK (doctor_id, nurse_id), allowing multiple nurses to assist multiple doctors while keeping each assignment unique.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66160"/>
            <a:ext cx="548640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502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E5E"/>
                </a:solidFill>
              </a:rPr>
              <a:t>Why ON DELETE SET NULL — Bill.admission_id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97764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Billing records must survive even if the linked admission is deleted. We chose SET NULL for Bill.admission_id so financial history is preserved and the bill stays, but the broken admission refer	ence is simply cleared.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E5E"/>
          </a:solidFill>
          <a:ln w="12700">
            <a:solidFill>
              <a:srgbClr val="0D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Implementation Highlights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7377"/>
                </a:solidFill>
              </a:rPr>
              <a:t>1.  Patient Table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206240" cy="2743200"/>
          </a:xfrm>
          <a:prstGeom prst="rect">
            <a:avLst/>
          </a:prstGeom>
          <a:solidFill>
            <a:srgbClr val="1E2D3D"/>
          </a:solidFill>
          <a:ln w="12700">
            <a:solidFill>
              <a:srgbClr val="0D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71600"/>
            <a:ext cx="4005072" cy="2633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TABLE patient 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patient_id INT PRIMARY KEY AUTO_INCREMENT,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last_name VARCHAR(50) NOT NULL,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first_name VARCHAR(50) NOT NULL,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date_of_birth DATE NOT NULL,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age_years INT AS (TIMESTAMPDIFF(YEAR, date_of_birth, CURDATE()))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VIRTUAL,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gender VARCHAR(10) NOT NULL,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contact_number VARCHAR(15) UNIQUE,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email VARCHAR(100) UNIQUE,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blood_type VARCHAR(5),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registration_date DATE NOT NULL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DEFAULT (CURRENT_DATE)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4114800"/>
            <a:ext cx="4206240" cy="685800"/>
          </a:xfrm>
          <a:prstGeom prst="rect">
            <a:avLst/>
          </a:prstGeom>
          <a:solidFill>
            <a:srgbClr val="D4F1F4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4160520"/>
            <a:ext cx="400507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2E5E"/>
                </a:solidFill>
              </a:rPr>
              <a:t>age_years is a VIRTUAL derived column which computed automatically from date_of_birth using TIMESTAMPDIFF(). It was never stored manually.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0" y="98755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7377"/>
                </a:solidFill>
              </a:rPr>
              <a:t>2.  Admission Table  (Weak Entity)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298448"/>
            <a:ext cx="4206240" cy="2743200"/>
          </a:xfrm>
          <a:prstGeom prst="rect">
            <a:avLst/>
          </a:prstGeom>
          <a:solidFill>
            <a:srgbClr val="1E2D3D"/>
          </a:solidFill>
          <a:ln w="12700">
            <a:solidFill>
              <a:srgbClr val="0D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371600"/>
            <a:ext cx="4005072" cy="2633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TABLE admission 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admission_id  INT PRIMARY KEY AUTO_INCREMENT,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admission_date DATE NOT NULL,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discharge_date DATE,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reason TEXT NOT NULL,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status ENUM('Admitted','Discharged') NOT NULL DEFAULT 'Admitted',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patient_id INT NOT NULL,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room_id    INT NOT NULL,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doctor_id  INT NOT NULL,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FOREIGN KEY (patient_id) REFERENCES patient(patient_id)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ON DELETE CASCADE ON UPDATE CASCADE,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FOREIGN KEY (room_id) REFERENCES room(room_id)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ON DELETE RESTRICT ON UPDATE CASCADE,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FOREIGN KEY (doctor_id) REFERENCES doctor(doctor_id)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ON DELETE RESTRICT ON UPDATE CASCADE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4114800"/>
            <a:ext cx="4206240" cy="685800"/>
          </a:xfrm>
          <a:prstGeom prst="rect">
            <a:avLst/>
          </a:prstGeom>
          <a:solidFill>
            <a:srgbClr val="D4F1F4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4160520"/>
            <a:ext cx="400507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2E5E"/>
                </a:solidFill>
              </a:rPr>
              <a:t>ON DELETE CASCADE on patient_id removes admissions when a patient is deleted. RESTRICT on room/doctor prevents accidental deletion of referenced records.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E5E"/>
          </a:solidFill>
          <a:ln w="12700">
            <a:solidFill>
              <a:srgbClr val="0D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Encountered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20624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01  Modeling the Weak Entity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5389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E5E"/>
                </a:solidFill>
              </a:rPr>
              <a:t>Challenge: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636776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Deciding how to correctly implement Admission as a weak entity was tricky since SQL does not natively support the concept.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377"/>
                </a:solidFill>
              </a:rPr>
              <a:t>Resolution: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4023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We used a surrogate AUTO_INCREMENT PK for implementation convenience and enforced dependency via ON DELETE CASCADE on the patient_id FK.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51560"/>
            <a:ext cx="4206240" cy="32918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9728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02  Resolving M:N Relationships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145389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E5E"/>
                </a:solidFill>
              </a:rPr>
              <a:t>Challenge: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636776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Doctor ↔ Nurse and Patient ↔ Doctor both required M:N handling, which cannot be directly stored in relational tables.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14884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377"/>
                </a:solidFill>
              </a:rPr>
              <a:t>Resolution: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2331720"/>
            <a:ext cx="4023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Created Doctor_Nurse and Appointment as bridge/associative tables with composite or surrogate PKs and FKs to both parent tables.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4206240" cy="329184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7180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03  Choosing Correct ON DELETE Rules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32841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E5E"/>
                </a:solidFill>
              </a:rPr>
              <a:t>Challenge: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511296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Determining which FK action (CASCADE, RESTRICT, SET NULL) was appropriate for each relationship required careful analysis.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0233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377"/>
                </a:solidFill>
              </a:rPr>
              <a:t>Resolution: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206240"/>
            <a:ext cx="4023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We mapped each relationship's dependency: CASCADE for child-only entities, RESTRICT for critical references, SET NULL for optional links like Bill → Admission.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943860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926080"/>
            <a:ext cx="4206240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97180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04  ERD Layout &amp; Readability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332841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E5E"/>
                </a:solidFill>
              </a:rPr>
              <a:t>Challenge: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3511296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With 13 entities and numerous relationships, the ERD diagram became cluttered and difficult to read at first.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40233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377"/>
                </a:solidFill>
              </a:rPr>
              <a:t>Resolution: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4206240"/>
            <a:ext cx="4023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We reorganized entities by logical grouping (admin, clinical, financial) and used color-coded tables in draw.io to improve clarity.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A3866"/>
          </a:solidFill>
          <a:ln w="12700">
            <a:solidFill>
              <a:srgbClr val="0A3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A3866"/>
          </a:solidFill>
          <a:ln w="12700">
            <a:solidFill>
              <a:srgbClr val="0A38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4F1F4"/>
                </a:solidFill>
              </a:rPr>
              <a:t>Questions &amp; Answers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4572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Hospital Management System  |  Group 1  |  ITP05 Information 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8295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 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977640"/>
            <a:ext cx="1874520" cy="658368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96512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ERD Concepts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3977640"/>
            <a:ext cx="1874520" cy="658368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4096512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 Choices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3977640"/>
            <a:ext cx="1874520" cy="658368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4096512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SQL Constraints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3977640"/>
            <a:ext cx="1874520" cy="658368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4096512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Schema Modifications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5545</Words>
  <Application>WPS Presentation</Application>
  <PresentationFormat>On-screen Show (16:9)</PresentationFormat>
  <Paragraphs>297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Google Sans</vt:lpstr>
      <vt:lpstr>Google Sans Text</vt:lpstr>
      <vt:lpstr>Arial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creator>PptxGenJS</dc:creator>
  <dc:subject>PptxGenJS Presentation</dc:subject>
  <cp:lastModifiedBy>NELLY</cp:lastModifiedBy>
  <cp:revision>9</cp:revision>
  <dcterms:created xsi:type="dcterms:W3CDTF">2026-05-26T09:21:00Z</dcterms:created>
  <dcterms:modified xsi:type="dcterms:W3CDTF">2026-05-29T02:59:12Z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1CDDF17AC1E94B8BAED5A175D02E652B_12</vt:lpwstr>
  </property>
</Properties>
</file>